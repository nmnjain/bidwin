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Proposal for Railway</a:t>
            </a:r>
          </a:p>
        </p:txBody>
      </p:sp>
      <p:sp>
        <p:nvSpPr>
          <p:cNvPr id="3" name="Subtitle 2"/>
          <p:cNvSpPr>
            <a:spLocks noGrp="1"/>
          </p:cNvSpPr>
          <p:nvPr>
            <p:ph type="subTitle" idx="1"/>
          </p:nvPr>
        </p:nvSpPr>
        <p:spPr/>
        <p:txBody>
          <a:bodyPr/>
          <a:lstStyle/>
          <a:p>
            <a:r>
              <a:t>Ref: Indian Railway Integrated Coach Factory (ICF)</a:t>
            </a:r>
          </a:p>
          <a:p>
            <a:r>
              <a:t>Generated by BidWin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Based on our analysis of your tender document, we propose the following high-performance solution:</a:t>
            </a:r>
          </a:p>
          <a:p>
            <a:pPr lvl="1"/>
            <a:r>
              <a:t>• Identified Need: Epoxy based heavy duty flooring (FOSROC/BASF/FAIRMATE - Epoxy coating, solvent-free primer, free-flow Epoxy Screed, solvent-free pigmented Epoxy self-levelling floor topping)</a:t>
            </a:r>
          </a:p>
          <a:p>
            <a:pPr lvl="1"/>
            <a:r>
              <a:t>• Proposed Solution: 19 - Apcodur 400 Food Grade</a:t>
            </a:r>
          </a:p>
          <a:p>
            <a:pPr lvl="1"/>
            <a:r>
              <a:t>• Match Confidence: 75%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Technical Specification Match</a:t>
            </a:r>
          </a:p>
        </p:txBody>
      </p:sp>
      <p:sp>
        <p:nvSpPr>
          <p:cNvPr id="3" name="Content Placeholder 2"/>
          <p:cNvSpPr>
            <a:spLocks noGrp="1"/>
          </p:cNvSpPr>
          <p:nvPr>
            <p:ph idx="1"/>
          </p:nvPr>
        </p:nvSpPr>
        <p:spPr/>
        <p:txBody>
          <a:bodyPr/>
          <a:lstStyle/>
          <a:p>
            <a:r>
              <a:t>Our solution meets or exceeds your technical requirements:</a:t>
            </a:r>
          </a:p>
          <a:p>
            <a:pPr lvl="1"/>
            <a:r>
              <a:t>• Requirement (DFT): 5mm total thickness (4mm Epoxy Screed + 1mm Epoxy self-levelling floor topping)</a:t>
            </a:r>
          </a:p>
          <a:p>
            <a:pPr lvl="1"/>
            <a:r>
              <a:t>• Our Specification: Apcodur 400 Food Grade is optimized for this range.</a:t>
            </a:r>
          </a:p>
          <a:p>
            <a:pPr lvl="1"/>
            <a:r>
              <a:t>• Application Method: Compatible with Surface preparation (grinding, scarification, vacuum cleaning, water wash), supply and application of solvent-free primer, applying free-flow Epoxy Screed (mix ratio 3 part resin, 1 part hardener, 4 part high grade filler), solvent-free pigmented Epoxy self-levelling floor topping..</a:t>
            </a:r>
          </a:p>
          <a:p>
            <a:pPr lvl="1"/>
            <a:r>
              <a:t>• Reason for Selection: RFP Requirement 2 specifies 'Hi-build Heavy Duty Food grade Impact Resistant Epoxy Flooring'. Product ID 19, 'Apcodur 400 Food Grade', is explicitly described as 'Food Grade' and 'CFTRI Approved', directly fulfilling the critical 'Food grade' requirement. It is also a 'Solvent Free Epoxy', aligning with the material type. While its specific form (e.g., self-levelling, screed) and DFT are not detailed, its core 'Food Grade' property is a fundamental and non-negotiable match for RFP Item 2, making it the most suitable single product among the available options for this particular RFP requirement..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Commercial Proposal</a:t>
            </a:r>
          </a:p>
        </p:txBody>
      </p:sp>
      <p:sp>
        <p:nvSpPr>
          <p:cNvPr id="3" name="Content Placeholder 2"/>
          <p:cNvSpPr>
            <a:spLocks noGrp="1"/>
          </p:cNvSpPr>
          <p:nvPr>
            <p:ph idx="1"/>
          </p:nvPr>
        </p:nvSpPr>
        <p:spPr/>
        <p:txBody>
          <a:bodyPr/>
          <a:lstStyle/>
          <a:p>
            <a:r>
              <a:t>Pricing Breakdown (Per Unit):</a:t>
            </a:r>
          </a:p>
          <a:p>
            <a:pPr lvl="1"/>
            <a:r>
              <a:t>• Base Price: ₹ 1100.0</a:t>
            </a:r>
          </a:p>
          <a:p>
            <a:pPr lvl="1"/>
            <a:r>
              <a:t>• Logistics (5%): ₹ 55.0</a:t>
            </a:r>
          </a:p>
          <a:p>
            <a:pPr lvl="1"/>
            <a:r>
              <a:t>• GST (18%): ₹ 207.9</a:t>
            </a:r>
          </a:p>
          <a:p>
            <a:pPr>
              <a:defRPr b="1" sz="2400"/>
            </a:pPr>
            <a:r>
              <a:t>• TOTAL UNIT PRICE: ₹ 1582.9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